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487" r:id="rId5"/>
    <p:sldId id="2147470494" r:id="rId6"/>
    <p:sldId id="2147470501" r:id="rId7"/>
    <p:sldId id="2147470498" r:id="rId8"/>
    <p:sldId id="2147470497" r:id="rId9"/>
    <p:sldId id="2147470504" r:id="rId10"/>
    <p:sldId id="2147470499" r:id="rId11"/>
    <p:sldId id="2147470502" r:id="rId12"/>
    <p:sldId id="2147470503" r:id="rId13"/>
    <p:sldId id="2147470505" r:id="rId14"/>
    <p:sldId id="2147470506" r:id="rId15"/>
    <p:sldId id="2147470507" r:id="rId16"/>
    <p:sldId id="2147470508" r:id="rId17"/>
    <p:sldId id="2147470509" r:id="rId18"/>
    <p:sldId id="2147470510" r:id="rId19"/>
    <p:sldId id="2147470511" r:id="rId20"/>
    <p:sldId id="2147470512" r:id="rId21"/>
    <p:sldId id="2147470513" r:id="rId22"/>
    <p:sldId id="2147470514" r:id="rId23"/>
    <p:sldId id="2147470515" r:id="rId24"/>
    <p:sldId id="2147470516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316070E-09F2-40CE-BB43-8AD116CF891A}">
          <p14:sldIdLst>
            <p14:sldId id="2147470489"/>
            <p14:sldId id="2147470492"/>
            <p14:sldId id="2147470493"/>
            <p14:sldId id="2147470487"/>
            <p14:sldId id="2147470494"/>
            <p14:sldId id="2147470501"/>
            <p14:sldId id="2147470498"/>
            <p14:sldId id="2147470497"/>
            <p14:sldId id="2147470504"/>
            <p14:sldId id="2147470499"/>
            <p14:sldId id="2147470502"/>
            <p14:sldId id="2147470503"/>
            <p14:sldId id="2147470505"/>
            <p14:sldId id="2147470506"/>
            <p14:sldId id="2147470507"/>
            <p14:sldId id="2147470508"/>
            <p14:sldId id="2147470509"/>
            <p14:sldId id="2147470510"/>
            <p14:sldId id="2147470511"/>
            <p14:sldId id="2147470512"/>
            <p14:sldId id="2147470513"/>
            <p14:sldId id="2147470514"/>
            <p14:sldId id="2147470515"/>
            <p14:sldId id="214747051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071217-78F8-466C-990A-4B27ABF5023E}" v="29" dt="2026-10-07T15:05:43.9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haslim N" userId="acccf8b7-fa12-4fbd-b7ec-4d5d48783f60" providerId="ADAL" clId="{4488313D-7120-4382-A252-FD61FA83AD45}"/>
    <pc:docChg chg="custSel addSld modSld sldOrd addSection delSection">
      <pc:chgData name="Dhaslim N" userId="acccf8b7-fa12-4fbd-b7ec-4d5d48783f60" providerId="ADAL" clId="{4488313D-7120-4382-A252-FD61FA83AD45}" dt="2026-10-07T15:05:43.911" v="47"/>
      <pc:docMkLst>
        <pc:docMk/>
      </pc:docMkLst>
      <pc:sldChg chg="modAnim">
        <pc:chgData name="Dhaslim N" userId="acccf8b7-fa12-4fbd-b7ec-4d5d48783f60" providerId="ADAL" clId="{4488313D-7120-4382-A252-FD61FA83AD45}" dt="2026-10-07T15:02:52.870" v="32"/>
        <pc:sldMkLst>
          <pc:docMk/>
          <pc:sldMk cId="3377586287" sldId="2147470487"/>
        </pc:sldMkLst>
      </pc:sldChg>
      <pc:sldChg chg="modAnim">
        <pc:chgData name="Dhaslim N" userId="acccf8b7-fa12-4fbd-b7ec-4d5d48783f60" providerId="ADAL" clId="{4488313D-7120-4382-A252-FD61FA83AD45}" dt="2026-10-07T15:01:47.429" v="31"/>
        <pc:sldMkLst>
          <pc:docMk/>
          <pc:sldMk cId="2088180620" sldId="2147470492"/>
        </pc:sldMkLst>
      </pc:sldChg>
      <pc:sldChg chg="modAnim">
        <pc:chgData name="Dhaslim N" userId="acccf8b7-fa12-4fbd-b7ec-4d5d48783f60" providerId="ADAL" clId="{4488313D-7120-4382-A252-FD61FA83AD45}" dt="2026-10-07T14:59:05.718" v="25"/>
        <pc:sldMkLst>
          <pc:docMk/>
          <pc:sldMk cId="1739450533" sldId="2147470493"/>
        </pc:sldMkLst>
      </pc:sldChg>
      <pc:sldChg chg="modAnim">
        <pc:chgData name="Dhaslim N" userId="acccf8b7-fa12-4fbd-b7ec-4d5d48783f60" providerId="ADAL" clId="{4488313D-7120-4382-A252-FD61FA83AD45}" dt="2026-10-07T15:03:09.589" v="33"/>
        <pc:sldMkLst>
          <pc:docMk/>
          <pc:sldMk cId="2034681921" sldId="2147470494"/>
        </pc:sldMkLst>
      </pc:sldChg>
      <pc:sldChg chg="ord modAnim">
        <pc:chgData name="Dhaslim N" userId="acccf8b7-fa12-4fbd-b7ec-4d5d48783f60" providerId="ADAL" clId="{4488313D-7120-4382-A252-FD61FA83AD45}" dt="2026-10-07T15:03:30.256" v="35"/>
        <pc:sldMkLst>
          <pc:docMk/>
          <pc:sldMk cId="679362563" sldId="2147470497"/>
        </pc:sldMkLst>
      </pc:sldChg>
      <pc:sldChg chg="ord modAnim">
        <pc:chgData name="Dhaslim N" userId="acccf8b7-fa12-4fbd-b7ec-4d5d48783f60" providerId="ADAL" clId="{4488313D-7120-4382-A252-FD61FA83AD45}" dt="2026-10-07T15:03:22.209" v="34"/>
        <pc:sldMkLst>
          <pc:docMk/>
          <pc:sldMk cId="107944653" sldId="2147470498"/>
        </pc:sldMkLst>
      </pc:sldChg>
      <pc:sldChg chg="modAnim">
        <pc:chgData name="Dhaslim N" userId="acccf8b7-fa12-4fbd-b7ec-4d5d48783f60" providerId="ADAL" clId="{4488313D-7120-4382-A252-FD61FA83AD45}" dt="2026-10-07T15:03:53.043" v="36"/>
        <pc:sldMkLst>
          <pc:docMk/>
          <pc:sldMk cId="2198371957" sldId="2147470499"/>
        </pc:sldMkLst>
      </pc:sldChg>
      <pc:sldChg chg="addSp delSp modSp mod delAnim modAnim">
        <pc:chgData name="Dhaslim N" userId="acccf8b7-fa12-4fbd-b7ec-4d5d48783f60" providerId="ADAL" clId="{4488313D-7120-4382-A252-FD61FA83AD45}" dt="2026-10-07T13:50:54.829" v="12" actId="14100"/>
        <pc:sldMkLst>
          <pc:docMk/>
          <pc:sldMk cId="2015818812" sldId="2147470501"/>
        </pc:sldMkLst>
        <pc:spChg chg="del mod">
          <ac:chgData name="Dhaslim N" userId="acccf8b7-fa12-4fbd-b7ec-4d5d48783f60" providerId="ADAL" clId="{4488313D-7120-4382-A252-FD61FA83AD45}" dt="2026-10-07T13:50:35.945" v="8" actId="21"/>
          <ac:spMkLst>
            <pc:docMk/>
            <pc:sldMk cId="2015818812" sldId="2147470501"/>
            <ac:spMk id="2" creationId="{6E2C3DBE-E507-D889-A890-2C56D2A659BE}"/>
          </ac:spMkLst>
        </pc:spChg>
        <pc:picChg chg="add del mod">
          <ac:chgData name="Dhaslim N" userId="acccf8b7-fa12-4fbd-b7ec-4d5d48783f60" providerId="ADAL" clId="{4488313D-7120-4382-A252-FD61FA83AD45}" dt="2026-10-07T13:50:25.801" v="7" actId="21"/>
          <ac:picMkLst>
            <pc:docMk/>
            <pc:sldMk cId="2015818812" sldId="2147470501"/>
            <ac:picMk id="7" creationId="{6DA3AA4E-A092-43FD-AA20-50BF74C595C6}"/>
          </ac:picMkLst>
        </pc:picChg>
        <pc:picChg chg="add mod">
          <ac:chgData name="Dhaslim N" userId="acccf8b7-fa12-4fbd-b7ec-4d5d48783f60" providerId="ADAL" clId="{4488313D-7120-4382-A252-FD61FA83AD45}" dt="2026-10-07T13:50:54.829" v="12" actId="14100"/>
          <ac:picMkLst>
            <pc:docMk/>
            <pc:sldMk cId="2015818812" sldId="2147470501"/>
            <ac:picMk id="9" creationId="{5ED815BF-CC80-40A6-AE9E-D9AE89A918BF}"/>
          </ac:picMkLst>
        </pc:picChg>
      </pc:sldChg>
      <pc:sldChg chg="modAnim">
        <pc:chgData name="Dhaslim N" userId="acccf8b7-fa12-4fbd-b7ec-4d5d48783f60" providerId="ADAL" clId="{4488313D-7120-4382-A252-FD61FA83AD45}" dt="2026-10-07T15:04:01.555" v="37"/>
        <pc:sldMkLst>
          <pc:docMk/>
          <pc:sldMk cId="1573488916" sldId="2147470502"/>
        </pc:sldMkLst>
      </pc:sldChg>
      <pc:sldChg chg="modAnim">
        <pc:chgData name="Dhaslim N" userId="acccf8b7-fa12-4fbd-b7ec-4d5d48783f60" providerId="ADAL" clId="{4488313D-7120-4382-A252-FD61FA83AD45}" dt="2026-10-07T15:04:06.931" v="38"/>
        <pc:sldMkLst>
          <pc:docMk/>
          <pc:sldMk cId="1659890165" sldId="2147470503"/>
        </pc:sldMkLst>
      </pc:sldChg>
      <pc:sldChg chg="add">
        <pc:chgData name="Dhaslim N" userId="acccf8b7-fa12-4fbd-b7ec-4d5d48783f60" providerId="ADAL" clId="{4488313D-7120-4382-A252-FD61FA83AD45}" dt="2026-10-07T14:54:19.935" v="21"/>
        <pc:sldMkLst>
          <pc:docMk/>
          <pc:sldMk cId="1640083062" sldId="2147470505"/>
        </pc:sldMkLst>
      </pc:sldChg>
      <pc:sldChg chg="add modAnim">
        <pc:chgData name="Dhaslim N" userId="acccf8b7-fa12-4fbd-b7ec-4d5d48783f60" providerId="ADAL" clId="{4488313D-7120-4382-A252-FD61FA83AD45}" dt="2026-10-07T15:04:17.797" v="39"/>
        <pc:sldMkLst>
          <pc:docMk/>
          <pc:sldMk cId="1909414487" sldId="2147470506"/>
        </pc:sldMkLst>
      </pc:sldChg>
      <pc:sldChg chg="add modAnim">
        <pc:chgData name="Dhaslim N" userId="acccf8b7-fa12-4fbd-b7ec-4d5d48783f60" providerId="ADAL" clId="{4488313D-7120-4382-A252-FD61FA83AD45}" dt="2026-10-07T15:04:23.635" v="40"/>
        <pc:sldMkLst>
          <pc:docMk/>
          <pc:sldMk cId="1098731000" sldId="2147470507"/>
        </pc:sldMkLst>
      </pc:sldChg>
      <pc:sldChg chg="add modAnim">
        <pc:chgData name="Dhaslim N" userId="acccf8b7-fa12-4fbd-b7ec-4d5d48783f60" providerId="ADAL" clId="{4488313D-7120-4382-A252-FD61FA83AD45}" dt="2026-10-07T15:04:29.613" v="41"/>
        <pc:sldMkLst>
          <pc:docMk/>
          <pc:sldMk cId="1710757151" sldId="2147470508"/>
        </pc:sldMkLst>
      </pc:sldChg>
      <pc:sldChg chg="add modAnim">
        <pc:chgData name="Dhaslim N" userId="acccf8b7-fa12-4fbd-b7ec-4d5d48783f60" providerId="ADAL" clId="{4488313D-7120-4382-A252-FD61FA83AD45}" dt="2026-10-07T15:04:46.426" v="42"/>
        <pc:sldMkLst>
          <pc:docMk/>
          <pc:sldMk cId="1985597044" sldId="2147470509"/>
        </pc:sldMkLst>
      </pc:sldChg>
      <pc:sldChg chg="add">
        <pc:chgData name="Dhaslim N" userId="acccf8b7-fa12-4fbd-b7ec-4d5d48783f60" providerId="ADAL" clId="{4488313D-7120-4382-A252-FD61FA83AD45}" dt="2026-10-07T14:54:19.935" v="21"/>
        <pc:sldMkLst>
          <pc:docMk/>
          <pc:sldMk cId="3679646045" sldId="2147470510"/>
        </pc:sldMkLst>
      </pc:sldChg>
      <pc:sldChg chg="add modAnim">
        <pc:chgData name="Dhaslim N" userId="acccf8b7-fa12-4fbd-b7ec-4d5d48783f60" providerId="ADAL" clId="{4488313D-7120-4382-A252-FD61FA83AD45}" dt="2026-10-07T15:05:02.059" v="43"/>
        <pc:sldMkLst>
          <pc:docMk/>
          <pc:sldMk cId="3659307429" sldId="2147470511"/>
        </pc:sldMkLst>
      </pc:sldChg>
      <pc:sldChg chg="add modAnim">
        <pc:chgData name="Dhaslim N" userId="acccf8b7-fa12-4fbd-b7ec-4d5d48783f60" providerId="ADAL" clId="{4488313D-7120-4382-A252-FD61FA83AD45}" dt="2026-10-07T15:05:08.282" v="44"/>
        <pc:sldMkLst>
          <pc:docMk/>
          <pc:sldMk cId="1937506419" sldId="2147470512"/>
        </pc:sldMkLst>
      </pc:sldChg>
      <pc:sldChg chg="add">
        <pc:chgData name="Dhaslim N" userId="acccf8b7-fa12-4fbd-b7ec-4d5d48783f60" providerId="ADAL" clId="{4488313D-7120-4382-A252-FD61FA83AD45}" dt="2026-10-07T14:54:19.935" v="21"/>
        <pc:sldMkLst>
          <pc:docMk/>
          <pc:sldMk cId="3533871545" sldId="2147470513"/>
        </pc:sldMkLst>
      </pc:sldChg>
      <pc:sldChg chg="add modAnim">
        <pc:chgData name="Dhaslim N" userId="acccf8b7-fa12-4fbd-b7ec-4d5d48783f60" providerId="ADAL" clId="{4488313D-7120-4382-A252-FD61FA83AD45}" dt="2026-10-07T15:05:22.187" v="45"/>
        <pc:sldMkLst>
          <pc:docMk/>
          <pc:sldMk cId="4030694458" sldId="2147470514"/>
        </pc:sldMkLst>
      </pc:sldChg>
      <pc:sldChg chg="add modAnim">
        <pc:chgData name="Dhaslim N" userId="acccf8b7-fa12-4fbd-b7ec-4d5d48783f60" providerId="ADAL" clId="{4488313D-7120-4382-A252-FD61FA83AD45}" dt="2026-10-07T15:05:28.293" v="46"/>
        <pc:sldMkLst>
          <pc:docMk/>
          <pc:sldMk cId="1824633769" sldId="2147470515"/>
        </pc:sldMkLst>
      </pc:sldChg>
      <pc:sldChg chg="add modAnim">
        <pc:chgData name="Dhaslim N" userId="acccf8b7-fa12-4fbd-b7ec-4d5d48783f60" providerId="ADAL" clId="{4488313D-7120-4382-A252-FD61FA83AD45}" dt="2026-10-07T15:05:43.911" v="47"/>
        <pc:sldMkLst>
          <pc:docMk/>
          <pc:sldMk cId="3211947375" sldId="214747051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microsoft.com/office/2007/relationships/hdphoto" Target="../media/hdphoto3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microsoft.com/office/2007/relationships/hdphoto" Target="../media/hdphoto3.wdp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M.Tech/MCA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30603" y="1520884"/>
            <a:ext cx="11428184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Review III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Project Title</a:t>
            </a:r>
          </a:p>
          <a:p>
            <a:pPr lvl="0" algn="ctr"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AEGIE : A Research Framework for Adaptive Agentic AI Based Voice Interview Evaluation</a:t>
            </a: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Team Member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DHASLIM N (251011007)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T9951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>
              <a:lnSpc>
                <a:spcPct val="150000"/>
              </a:lnSpc>
            </a:pPr>
            <a:r>
              <a:rPr lang="en-IN" dirty="0">
                <a:latin typeface="+mn-lt"/>
              </a:rPr>
              <a:t>AEGIE is a voice-based AI system for technical interview evaluation.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+mn-lt"/>
              </a:rPr>
              <a:t>NVIDIA Parakeet converts the candidate’s spoken answer into text. </a:t>
            </a:r>
          </a:p>
          <a:p>
            <a:pPr lvl="0">
              <a:lnSpc>
                <a:spcPct val="150000"/>
              </a:lnSpc>
            </a:pPr>
            <a:r>
              <a:rPr lang="en-IN" dirty="0" err="1">
                <a:latin typeface="+mn-lt"/>
              </a:rPr>
              <a:t>MiniLM</a:t>
            </a:r>
            <a:r>
              <a:rPr lang="en-IN" dirty="0">
                <a:latin typeface="+mn-lt"/>
              </a:rPr>
              <a:t> checks the answer at whole-answer, sentence, and concept levels.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+mn-lt"/>
              </a:rPr>
              <a:t>Agentic AI is used to evaluate the response, select the next question, and show feedback.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2579914" y="0"/>
            <a:ext cx="9612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            AEGIE : A Research Framework for Adaptive Agentic AI Based Voice Interview Evaluation</a:t>
            </a:r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>
              <a:lnSpc>
                <a:spcPct val="150000"/>
              </a:lnSpc>
            </a:pPr>
            <a:r>
              <a:rPr lang="en-IN" dirty="0">
                <a:latin typeface="+mn-lt"/>
              </a:rPr>
              <a:t>Convert the candidate’s voice response into text automatically.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+mn-lt"/>
              </a:rPr>
              <a:t>Measure delivery features such as speaking rate, fillers, and pauses.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+mn-lt"/>
              </a:rPr>
              <a:t>Compare the answer with expected technical content using </a:t>
            </a:r>
            <a:r>
              <a:rPr lang="en-IN" dirty="0" err="1">
                <a:latin typeface="+mn-lt"/>
              </a:rPr>
              <a:t>MiniLM</a:t>
            </a:r>
            <a:r>
              <a:rPr lang="en-IN" dirty="0">
                <a:latin typeface="+mn-lt"/>
              </a:rPr>
              <a:t>.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+mn-lt"/>
              </a:rPr>
              <a:t>Adapt the next question difficulty and provide clear feedback.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2514601" y="57036"/>
            <a:ext cx="967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             AEGIE : A Research Framework for Adaptive Agentic AI Based Voice Interview Evaluation</a:t>
            </a:r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8"/>
            <a:ext cx="11718290" cy="4868318"/>
          </a:xfrm>
        </p:spPr>
        <p:txBody>
          <a:bodyPr/>
          <a:lstStyle/>
          <a:p>
            <a:pPr lvl="0">
              <a:lnSpc>
                <a:spcPct val="100000"/>
              </a:lnSpc>
            </a:pPr>
            <a:r>
              <a:rPr lang="en-IN" dirty="0">
                <a:highlight>
                  <a:srgbClr val="FFFFFF"/>
                </a:highlight>
                <a:latin typeface="+mn-lt"/>
              </a:rPr>
              <a:t>Speech Processing Module – records voice and converts speech into text using NVIDIA Parakeet. </a:t>
            </a:r>
          </a:p>
          <a:p>
            <a:pPr lvl="0">
              <a:lnSpc>
                <a:spcPct val="100000"/>
              </a:lnSpc>
            </a:pPr>
            <a:r>
              <a:rPr lang="en-IN" dirty="0">
                <a:highlight>
                  <a:srgbClr val="FFFFFF"/>
                </a:highlight>
                <a:latin typeface="+mn-lt"/>
              </a:rPr>
              <a:t>Semantic Analysis Module – compares the response with reference content using </a:t>
            </a:r>
            <a:r>
              <a:rPr lang="en-IN" dirty="0" err="1">
                <a:highlight>
                  <a:srgbClr val="FFFFFF"/>
                </a:highlight>
                <a:latin typeface="+mn-lt"/>
              </a:rPr>
              <a:t>MiniLM</a:t>
            </a:r>
            <a:r>
              <a:rPr lang="en-IN" dirty="0">
                <a:highlight>
                  <a:srgbClr val="FFFFFF"/>
                </a:highlight>
                <a:latin typeface="+mn-lt"/>
              </a:rPr>
              <a:t>. </a:t>
            </a:r>
          </a:p>
          <a:p>
            <a:pPr lvl="0">
              <a:lnSpc>
                <a:spcPct val="100000"/>
              </a:lnSpc>
            </a:pPr>
            <a:r>
              <a:rPr lang="en-IN" dirty="0">
                <a:highlight>
                  <a:srgbClr val="FFFFFF"/>
                </a:highlight>
                <a:latin typeface="+mn-lt"/>
              </a:rPr>
              <a:t>Adaptive Agent Module – selects the next question difficulty from the current evidence. </a:t>
            </a:r>
          </a:p>
          <a:p>
            <a:pPr lvl="0">
              <a:lnSpc>
                <a:spcPct val="100000"/>
              </a:lnSpc>
            </a:pPr>
            <a:r>
              <a:rPr lang="en-IN" dirty="0">
                <a:highlight>
                  <a:srgbClr val="FFFFFF"/>
                </a:highlight>
                <a:latin typeface="+mn-lt"/>
              </a:rPr>
              <a:t>Feedback Module – displays semantic evidence, speech measures, and the final prototype level.</a:t>
            </a:r>
          </a:p>
          <a:p>
            <a:pPr marL="0" indent="0">
              <a:lnSpc>
                <a:spcPct val="100000"/>
              </a:lnSpc>
              <a:buNone/>
            </a:pPr>
            <a:endParaRPr lang="en-US" b="0" i="0" dirty="0">
              <a:solidFill>
                <a:srgbClr val="242424"/>
              </a:solidFill>
              <a:effectLst/>
              <a:highlight>
                <a:srgbClr val="FFFFFF"/>
              </a:highlight>
              <a:latin typeface="+mn-lt"/>
            </a:endParaRPr>
          </a:p>
          <a:p>
            <a:pPr lvl="1">
              <a:lnSpc>
                <a:spcPct val="100000"/>
              </a:lnSpc>
            </a:pPr>
            <a:endParaRPr lang="en-US" sz="2800" dirty="0">
              <a:solidFill>
                <a:srgbClr val="1C3898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name 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3026229" y="57036"/>
            <a:ext cx="9165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AEGIE : A Research Framework for Adaptive Agentic AI Based Voice Interview Evaluation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5" y="1271219"/>
            <a:ext cx="11838033" cy="4142989"/>
          </a:xfrm>
        </p:spPr>
        <p:txBody>
          <a:bodyPr/>
          <a:lstStyle/>
          <a:p>
            <a:pPr lvl="0">
              <a:lnSpc>
                <a:spcPct val="150000"/>
              </a:lnSpc>
            </a:pPr>
            <a:r>
              <a:rPr lang="en-IN" dirty="0">
                <a:latin typeface="+mn-lt"/>
              </a:rPr>
              <a:t>Traditional technical interviews depend heavily on manual evaluation by interviewers.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+mn-lt"/>
              </a:rPr>
              <a:t>Different interviewers may judge the same answer in different ways.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+mn-lt"/>
              </a:rPr>
              <a:t>Existing systems often focus on only speech features or only answer content.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+mn-lt"/>
              </a:rPr>
              <a:t>AEGIE combines voice analysis, semantic evidence, adaptive questioning, and feedback in one system.</a:t>
            </a:r>
          </a:p>
          <a:p>
            <a:pPr marL="0" indent="0">
              <a:lnSpc>
                <a:spcPct val="150000"/>
              </a:lnSpc>
              <a:buNone/>
            </a:pPr>
            <a:endParaRPr lang="en-US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Problem Statement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2438401" y="57036"/>
            <a:ext cx="975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                  AEGIE : A Research Framework for Adaptive Agentic AI Based Voice Interview Evaluation</a:t>
            </a:r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3BE5C-251C-23E3-8F19-EE2DB3009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ABB59C-76FD-5246-4EEE-72212BF64AE4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Methodology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4BC82A4-B382-2A00-3070-17B2B47F169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8E73589-106E-E0B7-D90D-C7E75D0CB2B6}"/>
              </a:ext>
            </a:extLst>
          </p:cNvPr>
          <p:cNvSpPr txBox="1"/>
          <p:nvPr/>
        </p:nvSpPr>
        <p:spPr>
          <a:xfrm>
            <a:off x="2068287" y="57036"/>
            <a:ext cx="101237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AEGIE : A Research Framework for Adaptive Agentic AI Based Voice Interview Evaluation</a:t>
            </a:r>
          </a:p>
          <a:p>
            <a:pPr algn="r"/>
            <a:endParaRPr lang="en-US" sz="1800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ED815BF-CC80-40A6-AE9E-D9AE89A918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171" y="1514474"/>
            <a:ext cx="10395858" cy="4570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818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433592-8155-CD6F-B5E3-78AB52F31D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5" y="1271219"/>
            <a:ext cx="11304633" cy="4142989"/>
          </a:xfrm>
        </p:spPr>
        <p:txBody>
          <a:bodyPr/>
          <a:lstStyle/>
          <a:p>
            <a:pPr lvl="0" algn="just">
              <a:lnSpc>
                <a:spcPct val="150000"/>
              </a:lnSpc>
            </a:pPr>
            <a:r>
              <a:rPr lang="en-IN" dirty="0">
                <a:latin typeface="+mn-lt"/>
              </a:rPr>
              <a:t>NVIDIA Parakeet is used for speech-to-text transcription. </a:t>
            </a:r>
          </a:p>
          <a:p>
            <a:pPr lvl="0" algn="just">
              <a:lnSpc>
                <a:spcPct val="150000"/>
              </a:lnSpc>
            </a:pPr>
            <a:r>
              <a:rPr lang="en-IN" dirty="0" err="1">
                <a:latin typeface="+mn-lt"/>
              </a:rPr>
              <a:t>MiniLM</a:t>
            </a:r>
            <a:r>
              <a:rPr lang="en-IN" dirty="0">
                <a:latin typeface="+mn-lt"/>
              </a:rPr>
              <a:t> is used for semantic similarity and concept matching. </a:t>
            </a:r>
          </a:p>
          <a:p>
            <a:pPr lvl="0" algn="just">
              <a:lnSpc>
                <a:spcPct val="150000"/>
              </a:lnSpc>
            </a:pPr>
            <a:r>
              <a:rPr lang="en-IN" dirty="0">
                <a:latin typeface="+mn-lt"/>
              </a:rPr>
              <a:t>Rule-based Agentic AI controls Easy, Medium, and Hard question adaptation. </a:t>
            </a:r>
          </a:p>
          <a:p>
            <a:pPr lvl="0" algn="just">
              <a:lnSpc>
                <a:spcPct val="150000"/>
              </a:lnSpc>
            </a:pPr>
            <a:r>
              <a:rPr lang="en-IN" dirty="0">
                <a:latin typeface="+mn-lt"/>
              </a:rPr>
              <a:t>Python, Flask, and </a:t>
            </a:r>
            <a:r>
              <a:rPr lang="en-IN" dirty="0" err="1">
                <a:latin typeface="+mn-lt"/>
              </a:rPr>
              <a:t>MLflow</a:t>
            </a:r>
            <a:r>
              <a:rPr lang="en-IN" dirty="0">
                <a:latin typeface="+mn-lt"/>
              </a:rPr>
              <a:t> are used for application development and experiment tracking.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Approach/Algorithms/Tools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2416629" y="57036"/>
            <a:ext cx="97753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AEGIE : A Research Framework for Adaptive Agentic AI Based Voice Interview Evaluation</a:t>
            </a:r>
          </a:p>
          <a:p>
            <a:pPr algn="r"/>
            <a:endParaRPr lang="en-US" sz="1800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988948" cy="4142989"/>
          </a:xfrm>
        </p:spPr>
        <p:txBody>
          <a:bodyPr/>
          <a:lstStyle/>
          <a:p>
            <a:pPr lvl="0" algn="just">
              <a:lnSpc>
                <a:spcPct val="100000"/>
              </a:lnSpc>
            </a:pPr>
            <a:r>
              <a:rPr lang="en-IN" dirty="0">
                <a:latin typeface="+mn-lt"/>
              </a:rPr>
              <a:t>The five-question prototype completed the full voice-to-feedback workflow successfully. </a:t>
            </a:r>
          </a:p>
          <a:p>
            <a:pPr lvl="0" algn="just">
              <a:lnSpc>
                <a:spcPct val="100000"/>
              </a:lnSpc>
            </a:pPr>
            <a:r>
              <a:rPr lang="en-IN" dirty="0">
                <a:latin typeface="+mn-lt"/>
              </a:rPr>
              <a:t>Average speaking rate was 117.33 WPM, with 1 filler and 10 pauses recorded. </a:t>
            </a:r>
          </a:p>
          <a:p>
            <a:pPr lvl="0" algn="just">
              <a:lnSpc>
                <a:spcPct val="100000"/>
              </a:lnSpc>
            </a:pPr>
            <a:r>
              <a:rPr lang="en-IN" dirty="0">
                <a:latin typeface="+mn-lt"/>
              </a:rPr>
              <a:t>Mean whole-answer similarity was 0.6522 and mean concept similarity was 0.4994. </a:t>
            </a:r>
          </a:p>
          <a:p>
            <a:pPr lvl="0" algn="just">
              <a:lnSpc>
                <a:spcPct val="100000"/>
              </a:lnSpc>
            </a:pPr>
            <a:r>
              <a:rPr lang="en-IN" dirty="0">
                <a:latin typeface="+mn-lt"/>
              </a:rPr>
              <a:t>The final prototype evidence score was 0.5605, which falls in the Intermediate range.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en-US" b="0" dirty="0">
              <a:solidFill>
                <a:srgbClr val="5583D1"/>
              </a:solidFill>
              <a:latin typeface="+mn-lt"/>
            </a:endParaRPr>
          </a:p>
          <a:p>
            <a:pPr marL="0" indent="0" algn="just">
              <a:lnSpc>
                <a:spcPct val="100000"/>
              </a:lnSpc>
              <a:buNone/>
            </a:pPr>
            <a:endParaRPr lang="en-US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Findings and Results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1567663" y="57036"/>
            <a:ext cx="106243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AEGIE : A Research Framework for Adaptive Agentic AI Based Voice Interview Evaluation</a:t>
            </a:r>
          </a:p>
          <a:p>
            <a:pPr algn="r"/>
            <a:endParaRPr lang="en-US" sz="1800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A9965B-C62A-926B-205A-906DE14894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688" y="781050"/>
            <a:ext cx="4655684" cy="42699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B388470-70C4-4BE2-305F-DA42E8343F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5713" y="922565"/>
            <a:ext cx="4655684" cy="4269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9291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872131-A6C0-4ECF-9994-EA002B6EAD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5" y="1271219"/>
            <a:ext cx="11065147" cy="4585293"/>
          </a:xfrm>
        </p:spPr>
        <p:txBody>
          <a:bodyPr/>
          <a:lstStyle/>
          <a:p>
            <a:pPr lvl="0" algn="just">
              <a:lnSpc>
                <a:spcPct val="100000"/>
              </a:lnSpc>
            </a:pPr>
            <a:r>
              <a:rPr lang="en-IN" dirty="0">
                <a:latin typeface="+mn-lt"/>
              </a:rPr>
              <a:t>AEGIE successfully combines voice processing, semantic analysis, adaptive questioning, and feedback in one workflow. </a:t>
            </a:r>
          </a:p>
          <a:p>
            <a:pPr lvl="0" algn="just">
              <a:lnSpc>
                <a:spcPct val="100000"/>
              </a:lnSpc>
            </a:pPr>
            <a:r>
              <a:rPr lang="en-IN" dirty="0">
                <a:latin typeface="+mn-lt"/>
              </a:rPr>
              <a:t>NVIDIA Parakeet and </a:t>
            </a:r>
            <a:r>
              <a:rPr lang="en-IN" dirty="0" err="1">
                <a:latin typeface="+mn-lt"/>
              </a:rPr>
              <a:t>MiniLM</a:t>
            </a:r>
            <a:r>
              <a:rPr lang="en-IN" dirty="0">
                <a:latin typeface="+mn-lt"/>
              </a:rPr>
              <a:t> provide speech transcription and semantic evidence for each response. </a:t>
            </a:r>
          </a:p>
          <a:p>
            <a:pPr lvl="0" algn="just">
              <a:lnSpc>
                <a:spcPct val="100000"/>
              </a:lnSpc>
            </a:pPr>
            <a:r>
              <a:rPr lang="en-IN" dirty="0">
                <a:latin typeface="+mn-lt"/>
              </a:rPr>
              <a:t>The prototype can adapt question difficulty using the evidence generated from the current answer. </a:t>
            </a:r>
          </a:p>
          <a:p>
            <a:pPr lvl="0" algn="just">
              <a:lnSpc>
                <a:spcPct val="100000"/>
              </a:lnSpc>
            </a:pPr>
            <a:r>
              <a:rPr lang="en-IN" dirty="0">
                <a:latin typeface="+mn-lt"/>
              </a:rPr>
              <a:t>Future work will use real participant data and expert evaluation to improve calibration and validation.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en-US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Conclusion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2068287" y="57036"/>
            <a:ext cx="101237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AEGIE : A Research Framework for Adaptive Agentic AI Based Voice Interview Evaluation</a:t>
            </a:r>
          </a:p>
          <a:p>
            <a:pPr algn="r"/>
            <a:endParaRPr lang="en-US" sz="1800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56F40-96CC-DEF8-9EB7-145237237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E03C842-0779-BE44-EECA-2F2EE3FA73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 algn="just">
              <a:lnSpc>
                <a:spcPct val="100000"/>
              </a:lnSpc>
            </a:pPr>
            <a:r>
              <a:rPr lang="en-IN" dirty="0">
                <a:latin typeface="+mn-lt"/>
              </a:rPr>
              <a:t>I thank my project guide for continuous guidance and technical support. </a:t>
            </a:r>
          </a:p>
          <a:p>
            <a:pPr lvl="0" algn="just">
              <a:lnSpc>
                <a:spcPct val="100000"/>
              </a:lnSpc>
            </a:pPr>
            <a:r>
              <a:rPr lang="en-IN" dirty="0">
                <a:latin typeface="+mn-lt"/>
              </a:rPr>
              <a:t>I thank the faculty members of Rajalakshmi Engineering College for their suggestions. </a:t>
            </a:r>
          </a:p>
          <a:p>
            <a:pPr lvl="0" algn="just">
              <a:lnSpc>
                <a:spcPct val="100000"/>
              </a:lnSpc>
            </a:pPr>
            <a:r>
              <a:rPr lang="en-IN" dirty="0">
                <a:latin typeface="+mn-lt"/>
              </a:rPr>
              <a:t>I thank the industry mentor from L&amp;T </a:t>
            </a:r>
            <a:r>
              <a:rPr lang="en-IN" dirty="0" err="1">
                <a:latin typeface="+mn-lt"/>
              </a:rPr>
              <a:t>EduTech</a:t>
            </a:r>
            <a:r>
              <a:rPr lang="en-IN" dirty="0">
                <a:latin typeface="+mn-lt"/>
              </a:rPr>
              <a:t> for valuable project inputs. </a:t>
            </a:r>
          </a:p>
          <a:p>
            <a:pPr lvl="0" algn="just">
              <a:lnSpc>
                <a:spcPct val="100000"/>
              </a:lnSpc>
            </a:pPr>
            <a:r>
              <a:rPr lang="en-IN" dirty="0">
                <a:latin typeface="+mn-lt"/>
              </a:rPr>
              <a:t>I also thank my department and institution for providing the required support and facilities.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en-US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DDE408-8E1E-6FA2-7CC4-7953936B171B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 err="1">
                <a:solidFill>
                  <a:srgbClr val="5B9BD5">
                    <a:lumMod val="50000"/>
                  </a:srgbClr>
                </a:solidFill>
              </a:rPr>
              <a:t>Acknowledgement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AC8EE7-5ED3-D96C-9268-8B7B9A5D057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06C5A91-6D8B-7A46-6BA9-7AF0BB8742E7}"/>
              </a:ext>
            </a:extLst>
          </p:cNvPr>
          <p:cNvSpPr txBox="1"/>
          <p:nvPr/>
        </p:nvSpPr>
        <p:spPr>
          <a:xfrm>
            <a:off x="2852057" y="57036"/>
            <a:ext cx="93399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AEGIE : A Research Framework for Adaptive Agentic AI Based Voice Interview Evaluation</a:t>
            </a:r>
          </a:p>
          <a:p>
            <a:pPr algn="r"/>
            <a:endParaRPr lang="en-US" sz="1800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3488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C1BA9-EED8-0553-15DB-7AC5ADC07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1E11D5E-73A6-DACE-A314-51CBCF3D39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457200" lvl="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IN" sz="2400" dirty="0"/>
              <a:t>Reimers and I. </a:t>
            </a:r>
            <a:r>
              <a:rPr lang="en-IN" sz="2400" dirty="0" err="1"/>
              <a:t>Gurevych</a:t>
            </a:r>
            <a:r>
              <a:rPr lang="en-IN" sz="2400" dirty="0"/>
              <a:t>, “Sentence-BERT: Sentence Embeddings Using Siamese BERT-Networks,” 2019. </a:t>
            </a:r>
          </a:p>
          <a:p>
            <a:pPr marL="457200" lvl="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IN" sz="2400" dirty="0"/>
              <a:t>W. Wang et al., “</a:t>
            </a:r>
            <a:r>
              <a:rPr lang="en-IN" sz="2400" dirty="0" err="1"/>
              <a:t>MiniLM</a:t>
            </a:r>
            <a:r>
              <a:rPr lang="en-IN" sz="2400" dirty="0"/>
              <a:t>: Deep Self-Attention Distillation for Task-Agnostic Compression of Pre-Trained Transformers,” 2020. </a:t>
            </a:r>
          </a:p>
          <a:p>
            <a:pPr marL="457200" lvl="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IN" sz="2400" dirty="0"/>
              <a:t>I. Naim et al., “Automated Analysis and Prediction of Job Interview Performance,” IEEE Trans. Affect. </a:t>
            </a:r>
            <a:r>
              <a:rPr lang="en-IN" sz="2400" dirty="0" err="1"/>
              <a:t>Comput</a:t>
            </a:r>
            <a:r>
              <a:rPr lang="en-IN" sz="2400" dirty="0"/>
              <a:t>., 2018. </a:t>
            </a:r>
          </a:p>
          <a:p>
            <a:pPr marL="457200" lvl="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IN" sz="2400" dirty="0"/>
              <a:t>H.-Y. Suen et al., “Intelligent Video Interview Agent Used to Predict Communication Skill and Perceived Personality Traits,” 2020.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6CD0F3-77A2-E482-9F59-462941CA9EF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Reference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EF328B9-B5B2-A4C8-C436-49616B481A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9E96C34-B06E-814D-72EC-EF1F6BBFAAF7}"/>
              </a:ext>
            </a:extLst>
          </p:cNvPr>
          <p:cNvSpPr txBox="1"/>
          <p:nvPr/>
        </p:nvSpPr>
        <p:spPr>
          <a:xfrm>
            <a:off x="2547257" y="57036"/>
            <a:ext cx="96447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AEGIE : A Research Framework for Adaptive Agentic AI Based Voice Interview Evaluation</a:t>
            </a:r>
          </a:p>
          <a:p>
            <a:pPr algn="r"/>
            <a:endParaRPr lang="en-US" sz="1800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9890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M.Tech/MCA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Review III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Project Title</a:t>
            </a:r>
          </a:p>
          <a:p>
            <a:pPr lvl="0" algn="ctr">
              <a:defRPr/>
            </a:pPr>
            <a:r>
              <a:rPr lang="en-US" sz="3600" b="1" dirty="0" err="1">
                <a:solidFill>
                  <a:prstClr val="white"/>
                </a:solidFill>
                <a:cs typeface="Calibri" panose="020F0502020204030204" pitchFamily="34" charset="0"/>
              </a:rPr>
              <a:t>ServiceSense</a:t>
            </a: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 AI – Customer Complaint Classification &amp; Resolution Intelligence</a:t>
            </a: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Team Member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DHASLIM N (251011007)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T9951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00830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 algn="just">
              <a:lnSpc>
                <a:spcPct val="100000"/>
              </a:lnSpc>
            </a:pPr>
            <a:r>
              <a:rPr lang="en-IN" dirty="0" err="1">
                <a:latin typeface="+mn-lt"/>
              </a:rPr>
              <a:t>ServiceSense</a:t>
            </a:r>
            <a:r>
              <a:rPr lang="en-IN" dirty="0">
                <a:latin typeface="+mn-lt"/>
              </a:rPr>
              <a:t> AI is designed to automate and improve customer complaint resolution.</a:t>
            </a:r>
          </a:p>
          <a:p>
            <a:pPr lvl="0" algn="just">
              <a:lnSpc>
                <a:spcPct val="100000"/>
              </a:lnSpc>
            </a:pPr>
            <a:r>
              <a:rPr lang="en-IN" dirty="0">
                <a:latin typeface="+mn-lt"/>
              </a:rPr>
              <a:t>It combines semantic classification with hybrid retrieval to understand customer issues.</a:t>
            </a:r>
          </a:p>
          <a:p>
            <a:pPr lvl="0" algn="just">
              <a:lnSpc>
                <a:spcPct val="100000"/>
              </a:lnSpc>
            </a:pPr>
            <a:r>
              <a:rPr lang="en-IN" dirty="0">
                <a:latin typeface="+mn-lt"/>
              </a:rPr>
              <a:t>An uncertainty-aware mechanism identifies ambiguous complaints and requests clarification.</a:t>
            </a:r>
          </a:p>
          <a:p>
            <a:pPr lvl="0" algn="just">
              <a:lnSpc>
                <a:spcPct val="100000"/>
              </a:lnSpc>
            </a:pPr>
            <a:r>
              <a:rPr lang="en-IN" dirty="0" err="1">
                <a:latin typeface="+mn-lt"/>
              </a:rPr>
              <a:t>LangGraph</a:t>
            </a:r>
            <a:r>
              <a:rPr lang="en-IN" dirty="0">
                <a:latin typeface="+mn-lt"/>
              </a:rPr>
              <a:t> enables multi-turn interaction, satisfaction checking, re-resolution, and escalation.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en-US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2547257" y="57036"/>
            <a:ext cx="96447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Service Sense AI – Customer Complaint Classification &amp; Resolution Intelligence </a:t>
            </a:r>
            <a:endParaRPr lang="en-US" sz="1800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9414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>
              <a:lnSpc>
                <a:spcPct val="100000"/>
              </a:lnSpc>
            </a:pPr>
            <a:r>
              <a:rPr lang="en-IN" dirty="0">
                <a:latin typeface="+mn-lt"/>
              </a:rPr>
              <a:t>Classify customer complaints accurately using semantic embeddings and machine learning.</a:t>
            </a:r>
          </a:p>
          <a:p>
            <a:pPr lvl="0">
              <a:lnSpc>
                <a:spcPct val="100000"/>
              </a:lnSpc>
            </a:pPr>
            <a:r>
              <a:rPr lang="en-IN" dirty="0">
                <a:latin typeface="+mn-lt"/>
              </a:rPr>
              <a:t>Retrieve relevant support responses using BM25 and </a:t>
            </a:r>
            <a:r>
              <a:rPr lang="en-IN" dirty="0" err="1">
                <a:latin typeface="+mn-lt"/>
              </a:rPr>
              <a:t>MiniLM</a:t>
            </a:r>
            <a:r>
              <a:rPr lang="en-IN" dirty="0">
                <a:latin typeface="+mn-lt"/>
              </a:rPr>
              <a:t>-FAISS hybrid retrieval.</a:t>
            </a:r>
          </a:p>
          <a:p>
            <a:pPr lvl="0">
              <a:lnSpc>
                <a:spcPct val="100000"/>
              </a:lnSpc>
            </a:pPr>
            <a:r>
              <a:rPr lang="en-IN" dirty="0">
                <a:latin typeface="+mn-lt"/>
              </a:rPr>
              <a:t>Detect uncertain cases and decide whether to resolve, clarify, or escalate the complaint.</a:t>
            </a:r>
          </a:p>
          <a:p>
            <a:pPr lvl="0">
              <a:lnSpc>
                <a:spcPct val="100000"/>
              </a:lnSpc>
            </a:pPr>
            <a:r>
              <a:rPr lang="en-IN" dirty="0">
                <a:latin typeface="+mn-lt"/>
              </a:rPr>
              <a:t>Provide multi-turn resolution with satisfaction checking and human escalation when required.</a:t>
            </a:r>
          </a:p>
          <a:p>
            <a:pPr marL="0" indent="0">
              <a:lnSpc>
                <a:spcPct val="100000"/>
              </a:lnSpc>
              <a:buNone/>
            </a:pPr>
            <a:endParaRPr lang="en-US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2993571" y="57036"/>
            <a:ext cx="91984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 err="1">
                <a:solidFill>
                  <a:prstClr val="white"/>
                </a:solidFill>
                <a:cs typeface="Calibri" panose="020F0502020204030204" pitchFamily="34" charset="0"/>
              </a:rPr>
              <a:t>ServiceSense</a:t>
            </a: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 AI – Customer Complaint Classification &amp; Resolution Intelligence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731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574409"/>
          </a:xfrm>
        </p:spPr>
        <p:txBody>
          <a:bodyPr/>
          <a:lstStyle/>
          <a:p>
            <a:pPr lvl="0">
              <a:lnSpc>
                <a:spcPct val="100000"/>
              </a:lnSpc>
            </a:pPr>
            <a:r>
              <a:rPr lang="en-IN" dirty="0">
                <a:highlight>
                  <a:srgbClr val="FFFFFF"/>
                </a:highlight>
                <a:latin typeface="+mn-lt"/>
              </a:rPr>
              <a:t>Classification Module: </a:t>
            </a:r>
            <a:r>
              <a:rPr lang="en-IN" dirty="0" err="1">
                <a:highlight>
                  <a:srgbClr val="FFFFFF"/>
                </a:highlight>
                <a:latin typeface="+mn-lt"/>
              </a:rPr>
              <a:t>MiniLM</a:t>
            </a:r>
            <a:r>
              <a:rPr lang="en-IN" dirty="0">
                <a:highlight>
                  <a:srgbClr val="FFFFFF"/>
                </a:highlight>
                <a:latin typeface="+mn-lt"/>
              </a:rPr>
              <a:t> embeddings and Logistic Regression identify customer intent.</a:t>
            </a:r>
          </a:p>
          <a:p>
            <a:pPr lvl="0">
              <a:lnSpc>
                <a:spcPct val="100000"/>
              </a:lnSpc>
            </a:pPr>
            <a:r>
              <a:rPr lang="en-IN" dirty="0">
                <a:highlight>
                  <a:srgbClr val="FFFFFF"/>
                </a:highlight>
                <a:latin typeface="+mn-lt"/>
              </a:rPr>
              <a:t>Retrieval Module: BM25 and FAISS retrieve relevant customer-support information.</a:t>
            </a:r>
          </a:p>
          <a:p>
            <a:pPr lvl="0">
              <a:lnSpc>
                <a:spcPct val="100000"/>
              </a:lnSpc>
            </a:pPr>
            <a:r>
              <a:rPr lang="en-IN" dirty="0">
                <a:highlight>
                  <a:srgbClr val="FFFFFF"/>
                </a:highlight>
                <a:latin typeface="+mn-lt"/>
              </a:rPr>
              <a:t>Decision Module: RRF, Cross-Encoder, and uncertainty logic select reliable results.</a:t>
            </a:r>
          </a:p>
          <a:p>
            <a:pPr lvl="0">
              <a:lnSpc>
                <a:spcPct val="100000"/>
              </a:lnSpc>
            </a:pPr>
            <a:r>
              <a:rPr lang="en-IN" dirty="0">
                <a:highlight>
                  <a:srgbClr val="FFFFFF"/>
                </a:highlight>
                <a:latin typeface="+mn-lt"/>
              </a:rPr>
              <a:t>Agent Module: </a:t>
            </a:r>
            <a:r>
              <a:rPr lang="en-IN" dirty="0" err="1">
                <a:highlight>
                  <a:srgbClr val="FFFFFF"/>
                </a:highlight>
                <a:latin typeface="+mn-lt"/>
              </a:rPr>
              <a:t>LangGraph</a:t>
            </a:r>
            <a:r>
              <a:rPr lang="en-IN" dirty="0">
                <a:highlight>
                  <a:srgbClr val="FFFFFF"/>
                </a:highlight>
                <a:latin typeface="+mn-lt"/>
              </a:rPr>
              <a:t> manages clarification, resolution, follow-up, and escalation.</a:t>
            </a:r>
          </a:p>
          <a:p>
            <a:pPr marL="0" indent="0">
              <a:lnSpc>
                <a:spcPct val="100000"/>
              </a:lnSpc>
              <a:buNone/>
            </a:pPr>
            <a:endParaRPr lang="en-US" b="0" i="0" dirty="0">
              <a:solidFill>
                <a:srgbClr val="242424"/>
              </a:solidFill>
              <a:effectLst/>
              <a:highlight>
                <a:srgbClr val="FFFFFF"/>
              </a:highlight>
              <a:latin typeface="+mn-lt"/>
            </a:endParaRPr>
          </a:p>
          <a:p>
            <a:pPr lvl="1">
              <a:lnSpc>
                <a:spcPct val="100000"/>
              </a:lnSpc>
            </a:pPr>
            <a:endParaRPr lang="en-US" sz="2800" dirty="0">
              <a:solidFill>
                <a:srgbClr val="1C3898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name 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2993571" y="57036"/>
            <a:ext cx="91984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 err="1">
                <a:solidFill>
                  <a:prstClr val="white"/>
                </a:solidFill>
                <a:cs typeface="Calibri" panose="020F0502020204030204" pitchFamily="34" charset="0"/>
              </a:rPr>
              <a:t>ServiceSense</a:t>
            </a: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 AI – Customer Complaint Classification &amp; Resolution Intelligence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07571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dirty="0">
                <a:latin typeface="+mn-lt"/>
              </a:rPr>
              <a:t>Traditional complaint classification systems mainly provide single-turn predictions or responses.</a:t>
            </a:r>
          </a:p>
          <a:p>
            <a:pPr lvl="0"/>
            <a:r>
              <a:rPr lang="en-IN" dirty="0">
                <a:latin typeface="+mn-lt"/>
              </a:rPr>
              <a:t>Ambiguous customer complaints can result in incorrect intent prediction and unsuitable resolutions.</a:t>
            </a:r>
          </a:p>
          <a:p>
            <a:pPr lvl="0"/>
            <a:r>
              <a:rPr lang="en-IN" dirty="0">
                <a:latin typeface="+mn-lt"/>
              </a:rPr>
              <a:t>Single retrieval methods may fail to capture both keyword relevance and semantic similarity.</a:t>
            </a:r>
          </a:p>
          <a:p>
            <a:pPr lvl="0"/>
            <a:r>
              <a:rPr lang="en-IN" dirty="0">
                <a:latin typeface="+mn-lt"/>
              </a:rPr>
              <a:t>A stateful system is required to clarify uncertainty and continue until resolution or escalation.</a:t>
            </a:r>
          </a:p>
          <a:p>
            <a:pPr marL="0" indent="0">
              <a:lnSpc>
                <a:spcPct val="150000"/>
              </a:lnSpc>
              <a:buNone/>
            </a:pPr>
            <a:endParaRPr lang="en-US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Problem Statement 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3581401" y="57036"/>
            <a:ext cx="8610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 err="1">
                <a:solidFill>
                  <a:prstClr val="white"/>
                </a:solidFill>
                <a:cs typeface="Calibri" panose="020F0502020204030204" pitchFamily="34" charset="0"/>
              </a:rPr>
              <a:t>ServiceSense</a:t>
            </a: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 AI – Customer Complaint Classification &amp; Resolution Intelligence</a:t>
            </a:r>
          </a:p>
          <a:p>
            <a:pPr algn="r"/>
            <a:endParaRPr lang="en-US" sz="1800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5597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3BE5C-251C-23E3-8F19-EE2DB3009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ABB59C-76FD-5246-4EEE-72212BF64AE4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Methodology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4BC82A4-B382-2A00-3070-17B2B47F169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8E73589-106E-E0B7-D90D-C7E75D0CB2B6}"/>
              </a:ext>
            </a:extLst>
          </p:cNvPr>
          <p:cNvSpPr txBox="1"/>
          <p:nvPr/>
        </p:nvSpPr>
        <p:spPr>
          <a:xfrm>
            <a:off x="3091543" y="57036"/>
            <a:ext cx="91004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 err="1">
                <a:solidFill>
                  <a:prstClr val="white"/>
                </a:solidFill>
                <a:cs typeface="Calibri" panose="020F0502020204030204" pitchFamily="34" charset="0"/>
              </a:rPr>
              <a:t>ServiceSense</a:t>
            </a: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 AI – Customer Complaint Classification &amp; Resolution Intelligence</a:t>
            </a:r>
          </a:p>
          <a:p>
            <a:pPr algn="r"/>
            <a:endParaRPr lang="en-US" sz="1800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1403DE-F3A1-1916-7AD1-5AB69F5F4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285" y="1676399"/>
            <a:ext cx="9955049" cy="457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646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433592-8155-CD6F-B5E3-78AB52F31D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>
              <a:lnSpc>
                <a:spcPct val="100000"/>
              </a:lnSpc>
            </a:pPr>
            <a:r>
              <a:rPr lang="en-IN" dirty="0">
                <a:latin typeface="+mn-lt"/>
              </a:rPr>
              <a:t>Classification: </a:t>
            </a:r>
            <a:r>
              <a:rPr lang="en-IN" dirty="0" err="1">
                <a:latin typeface="+mn-lt"/>
              </a:rPr>
              <a:t>MiniLM</a:t>
            </a:r>
            <a:r>
              <a:rPr lang="en-IN" dirty="0">
                <a:latin typeface="+mn-lt"/>
              </a:rPr>
              <a:t> embeddings with Logistic Regression for intent prediction and confidence estimation.</a:t>
            </a:r>
          </a:p>
          <a:p>
            <a:pPr lvl="0">
              <a:lnSpc>
                <a:spcPct val="100000"/>
              </a:lnSpc>
            </a:pPr>
            <a:r>
              <a:rPr lang="en-IN" dirty="0">
                <a:latin typeface="+mn-lt"/>
              </a:rPr>
              <a:t>Retrieval: BM25 + </a:t>
            </a:r>
            <a:r>
              <a:rPr lang="en-IN" dirty="0" err="1">
                <a:latin typeface="+mn-lt"/>
              </a:rPr>
              <a:t>MiniLM</a:t>
            </a:r>
            <a:r>
              <a:rPr lang="en-IN" dirty="0">
                <a:latin typeface="+mn-lt"/>
              </a:rPr>
              <a:t>-FAISS with Reciprocal Rank Fusion for hybrid information retrieval.</a:t>
            </a:r>
          </a:p>
          <a:p>
            <a:pPr lvl="0">
              <a:lnSpc>
                <a:spcPct val="100000"/>
              </a:lnSpc>
            </a:pPr>
            <a:r>
              <a:rPr lang="en-IN" dirty="0">
                <a:latin typeface="+mn-lt"/>
              </a:rPr>
              <a:t>Decision &amp; Agent: Cross-Encoder, uncertainty logic, and </a:t>
            </a:r>
            <a:r>
              <a:rPr lang="en-IN" dirty="0" err="1">
                <a:latin typeface="+mn-lt"/>
              </a:rPr>
              <a:t>LangGraph</a:t>
            </a:r>
            <a:r>
              <a:rPr lang="en-IN" dirty="0">
                <a:latin typeface="+mn-lt"/>
              </a:rPr>
              <a:t> for stateful multi-turn resolution.</a:t>
            </a:r>
          </a:p>
          <a:p>
            <a:pPr lvl="0">
              <a:lnSpc>
                <a:spcPct val="100000"/>
              </a:lnSpc>
            </a:pPr>
            <a:r>
              <a:rPr lang="en-IN" dirty="0">
                <a:latin typeface="+mn-lt"/>
              </a:rPr>
              <a:t>Development &amp; Deployment: Python, Flask, Scikit-learn, Sentence Transformers, </a:t>
            </a:r>
            <a:r>
              <a:rPr lang="en-IN" dirty="0" err="1">
                <a:latin typeface="+mn-lt"/>
              </a:rPr>
              <a:t>MLflow</a:t>
            </a:r>
            <a:r>
              <a:rPr lang="en-IN" dirty="0">
                <a:latin typeface="+mn-lt"/>
              </a:rPr>
              <a:t>, and Docker.</a:t>
            </a:r>
          </a:p>
          <a:p>
            <a:pPr marL="0" indent="0">
              <a:lnSpc>
                <a:spcPct val="100000"/>
              </a:lnSpc>
              <a:buNone/>
            </a:pPr>
            <a:endParaRPr lang="en-US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Approach/Algorithms/Tools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2688771" y="57036"/>
            <a:ext cx="95032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 err="1">
                <a:solidFill>
                  <a:prstClr val="white"/>
                </a:solidFill>
                <a:cs typeface="Calibri" panose="020F0502020204030204" pitchFamily="34" charset="0"/>
              </a:rPr>
              <a:t>ServiceSense</a:t>
            </a: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 AI – Customer Complaint Classification &amp; Resolution Intelligence</a:t>
            </a:r>
          </a:p>
          <a:p>
            <a:pPr algn="r"/>
            <a:endParaRPr lang="en-US" sz="1800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307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>
              <a:lnSpc>
                <a:spcPct val="100000"/>
              </a:lnSpc>
            </a:pPr>
            <a:r>
              <a:rPr lang="en-IN" dirty="0">
                <a:latin typeface="+mn-lt"/>
              </a:rPr>
              <a:t>Semantic intent classification achieved 99.40% accuracy on the controlled test split.</a:t>
            </a:r>
          </a:p>
          <a:p>
            <a:pPr lvl="0">
              <a:lnSpc>
                <a:spcPct val="100000"/>
              </a:lnSpc>
            </a:pPr>
            <a:r>
              <a:rPr lang="en-IN" dirty="0">
                <a:latin typeface="+mn-lt"/>
              </a:rPr>
              <a:t>Leakage-free retrieval achieved 99.00% Recall@1 and 99.33% Recall@3 and Recall@5.</a:t>
            </a:r>
          </a:p>
          <a:p>
            <a:pPr lvl="0">
              <a:lnSpc>
                <a:spcPct val="100000"/>
              </a:lnSpc>
            </a:pPr>
            <a:r>
              <a:rPr lang="en-IN" dirty="0">
                <a:latin typeface="+mn-lt"/>
              </a:rPr>
              <a:t>The hybrid retrieval pipeline obtained an MRR of 0.9911 on 300 held-out queries.</a:t>
            </a:r>
          </a:p>
          <a:p>
            <a:pPr lvl="0">
              <a:lnSpc>
                <a:spcPct val="100000"/>
              </a:lnSpc>
            </a:pPr>
            <a:r>
              <a:rPr lang="en-IN" dirty="0">
                <a:latin typeface="+mn-lt"/>
              </a:rPr>
              <a:t>The agentic workflow passed 7/7 predefined tests, covering clarification through escalation.</a:t>
            </a:r>
          </a:p>
          <a:p>
            <a:pPr marL="0" indent="0">
              <a:lnSpc>
                <a:spcPct val="100000"/>
              </a:lnSpc>
              <a:buNone/>
            </a:pPr>
            <a:endParaRPr lang="en-US" b="0" dirty="0">
              <a:solidFill>
                <a:srgbClr val="5583D1"/>
              </a:solidFill>
              <a:latin typeface="+mn-lt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Findings and Results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3733801" y="57036"/>
            <a:ext cx="8458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 err="1">
                <a:solidFill>
                  <a:prstClr val="white"/>
                </a:solidFill>
                <a:cs typeface="Calibri" panose="020F0502020204030204" pitchFamily="34" charset="0"/>
              </a:rPr>
              <a:t>ServiceSense</a:t>
            </a: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 AI – Customer Complaint Classification &amp; Resolution Intelligence</a:t>
            </a:r>
          </a:p>
          <a:p>
            <a:pPr algn="r"/>
            <a:endParaRPr lang="en-US" sz="1800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506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D5EE4C1-13C0-8AC6-02FB-CEEC7E421ECC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719666"/>
          <a:ext cx="8128000" cy="52239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45413449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984817383"/>
                    </a:ext>
                  </a:extLst>
                </a:gridCol>
              </a:tblGrid>
              <a:tr h="1044787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pPr algn="ctr"/>
                      <a:r>
                        <a:rPr lang="en-IN" sz="2800" dirty="0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pPr algn="ctr"/>
                      <a:r>
                        <a:rPr lang="en-IN" sz="2800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8675603"/>
                  </a:ext>
                </a:extLst>
              </a:tr>
              <a:tr h="1044787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pPr algn="ctr"/>
                      <a:r>
                        <a:rPr lang="en-IN" dirty="0"/>
                        <a:t>Classification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pPr algn="ctr"/>
                      <a:r>
                        <a:rPr lang="en-US" dirty="0"/>
                        <a:t>99.40%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6577495"/>
                  </a:ext>
                </a:extLst>
              </a:tr>
              <a:tr h="1044787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pPr algn="ctr"/>
                      <a:r>
                        <a:rPr lang="en-IN" dirty="0"/>
                        <a:t>Recall@1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pPr algn="ctr"/>
                      <a:r>
                        <a:rPr lang="en-IN" dirty="0"/>
                        <a:t>99.00%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240947"/>
                  </a:ext>
                </a:extLst>
              </a:tr>
              <a:tr h="1044787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pPr algn="ctr"/>
                      <a:r>
                        <a:rPr lang="en-IN" dirty="0"/>
                        <a:t>Recall@5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pPr algn="ctr"/>
                      <a:r>
                        <a:rPr lang="en-IN" dirty="0"/>
                        <a:t>99.33%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964484"/>
                  </a:ext>
                </a:extLst>
              </a:tr>
              <a:tr h="1044787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pPr algn="ctr"/>
                      <a:r>
                        <a:rPr lang="en-IN" dirty="0"/>
                        <a:t>Agentic Workflow Test Pass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pPr algn="ctr"/>
                      <a:r>
                        <a:rPr lang="en-IN" dirty="0"/>
                        <a:t>100% (7/7 tests)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41964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38715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872131-A6C0-4ECF-9994-EA002B6EAD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>
              <a:lnSpc>
                <a:spcPct val="100000"/>
              </a:lnSpc>
            </a:pPr>
            <a:r>
              <a:rPr lang="en-IN" dirty="0" err="1">
                <a:latin typeface="+mn-lt"/>
              </a:rPr>
              <a:t>ServiceSense</a:t>
            </a:r>
            <a:r>
              <a:rPr lang="en-IN" dirty="0">
                <a:latin typeface="+mn-lt"/>
              </a:rPr>
              <a:t> AI extends complaint classification into a stateful multi-turn resolution framework.</a:t>
            </a:r>
          </a:p>
          <a:p>
            <a:pPr lvl="0">
              <a:lnSpc>
                <a:spcPct val="100000"/>
              </a:lnSpc>
            </a:pPr>
            <a:r>
              <a:rPr lang="en-IN" dirty="0">
                <a:latin typeface="+mn-lt"/>
              </a:rPr>
              <a:t>Hybrid retrieval combines keyword and semantic information for more relevant support retrieval.</a:t>
            </a:r>
          </a:p>
          <a:p>
            <a:pPr lvl="0">
              <a:lnSpc>
                <a:spcPct val="100000"/>
              </a:lnSpc>
            </a:pPr>
            <a:r>
              <a:rPr lang="en-IN" dirty="0">
                <a:latin typeface="+mn-lt"/>
              </a:rPr>
              <a:t>Uncertainty handling reduces the risk of immediately answering ambiguous customer complaints.</a:t>
            </a:r>
          </a:p>
          <a:p>
            <a:pPr lvl="0">
              <a:lnSpc>
                <a:spcPct val="100000"/>
              </a:lnSpc>
            </a:pPr>
            <a:r>
              <a:rPr lang="en-IN" dirty="0" err="1">
                <a:latin typeface="+mn-lt"/>
              </a:rPr>
              <a:t>LangGraph</a:t>
            </a:r>
            <a:r>
              <a:rPr lang="en-IN" dirty="0">
                <a:latin typeface="+mn-lt"/>
              </a:rPr>
              <a:t> enables clarification, satisfaction checking, re-resolution, and human escalation.</a:t>
            </a:r>
          </a:p>
          <a:p>
            <a:pPr marL="0" indent="0">
              <a:lnSpc>
                <a:spcPct val="100000"/>
              </a:lnSpc>
              <a:buNone/>
            </a:pPr>
            <a:endParaRPr lang="en-US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Conclusion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2514601" y="57036"/>
            <a:ext cx="9677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 err="1">
                <a:solidFill>
                  <a:prstClr val="white"/>
                </a:solidFill>
                <a:cs typeface="Calibri" panose="020F0502020204030204" pitchFamily="34" charset="0"/>
              </a:rPr>
              <a:t>ServiceSense</a:t>
            </a: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 AI – Customer Complaint Classification &amp; Resolution Intelligence</a:t>
            </a:r>
          </a:p>
          <a:p>
            <a:pPr algn="r"/>
            <a:endParaRPr lang="en-US" sz="1800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694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56F40-96CC-DEF8-9EB7-145237237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E03C842-0779-BE44-EECA-2F2EE3FA73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>
              <a:lnSpc>
                <a:spcPct val="100000"/>
              </a:lnSpc>
            </a:pPr>
            <a:r>
              <a:rPr lang="en-IN" dirty="0">
                <a:latin typeface="+mn-lt"/>
              </a:rPr>
              <a:t>I sincerely thank my project guide for continuous guidance and valuable suggestions.</a:t>
            </a:r>
          </a:p>
          <a:p>
            <a:pPr lvl="0">
              <a:lnSpc>
                <a:spcPct val="100000"/>
              </a:lnSpc>
            </a:pPr>
            <a:r>
              <a:rPr lang="en-IN" dirty="0">
                <a:latin typeface="+mn-lt"/>
              </a:rPr>
              <a:t>I thank the faculty members for their support throughout the project development.</a:t>
            </a:r>
          </a:p>
          <a:p>
            <a:pPr lvl="0">
              <a:lnSpc>
                <a:spcPct val="100000"/>
              </a:lnSpc>
            </a:pPr>
            <a:r>
              <a:rPr lang="en-IN" dirty="0">
                <a:latin typeface="+mn-lt"/>
              </a:rPr>
              <a:t>I acknowledge L&amp;T </a:t>
            </a:r>
            <a:r>
              <a:rPr lang="en-IN" dirty="0" err="1">
                <a:latin typeface="+mn-lt"/>
              </a:rPr>
              <a:t>EduTech</a:t>
            </a:r>
            <a:r>
              <a:rPr lang="en-IN" dirty="0">
                <a:latin typeface="+mn-lt"/>
              </a:rPr>
              <a:t> and </a:t>
            </a:r>
            <a:r>
              <a:rPr lang="en-IN" dirty="0" err="1">
                <a:latin typeface="+mn-lt"/>
              </a:rPr>
              <a:t>LTIMindtree</a:t>
            </a:r>
            <a:r>
              <a:rPr lang="en-IN" dirty="0">
                <a:latin typeface="+mn-lt"/>
              </a:rPr>
              <a:t> for providing the industry-integrated learning opportunity.</a:t>
            </a:r>
          </a:p>
          <a:p>
            <a:pPr lvl="0">
              <a:lnSpc>
                <a:spcPct val="100000"/>
              </a:lnSpc>
            </a:pPr>
            <a:r>
              <a:rPr lang="en-IN" dirty="0">
                <a:latin typeface="+mn-lt"/>
              </a:rPr>
              <a:t>I also thank everyone who supported the successful development and evaluation of this project.</a:t>
            </a:r>
          </a:p>
          <a:p>
            <a:pPr marL="0" indent="0">
              <a:lnSpc>
                <a:spcPct val="100000"/>
              </a:lnSpc>
              <a:buNone/>
            </a:pPr>
            <a:endParaRPr lang="en-US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DDE408-8E1E-6FA2-7CC4-7953936B171B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 err="1">
                <a:solidFill>
                  <a:srgbClr val="5B9BD5">
                    <a:lumMod val="50000"/>
                  </a:srgbClr>
                </a:solidFill>
              </a:rPr>
              <a:t>Acknowledgement</a:t>
            </a: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 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AC8EE7-5ED3-D96C-9268-8B7B9A5D057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06C5A91-6D8B-7A46-6BA9-7AF0BB8742E7}"/>
              </a:ext>
            </a:extLst>
          </p:cNvPr>
          <p:cNvSpPr txBox="1"/>
          <p:nvPr/>
        </p:nvSpPr>
        <p:spPr>
          <a:xfrm>
            <a:off x="2688771" y="57036"/>
            <a:ext cx="95032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 err="1">
                <a:solidFill>
                  <a:prstClr val="white"/>
                </a:solidFill>
                <a:cs typeface="Calibri" panose="020F0502020204030204" pitchFamily="34" charset="0"/>
              </a:rPr>
              <a:t>ServiceSense</a:t>
            </a: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 AI – Customer Complaint Classification &amp; Resolution Intelligence</a:t>
            </a:r>
          </a:p>
          <a:p>
            <a:pPr algn="r"/>
            <a:endParaRPr lang="en-US" sz="1800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4633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C1BA9-EED8-0553-15DB-7AC5ADC07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1E11D5E-73A6-DACE-A314-51CBCF3D39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400" dirty="0"/>
              <a:t>Reimers, N. &amp; </a:t>
            </a:r>
            <a:r>
              <a:rPr lang="en-IN" sz="2400" dirty="0" err="1"/>
              <a:t>Gurevych</a:t>
            </a:r>
            <a:r>
              <a:rPr lang="en-IN" sz="2400" dirty="0"/>
              <a:t>, I. — Sentence-BERT: Sentence Embeddings using Siamese BERT-Networks.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400" dirty="0"/>
              <a:t>Johnson, J. et al. — Billion-scale Similarity Search with GPUs (FAISS).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400" dirty="0"/>
              <a:t>Cormack, G. et al. — Reciprocal Rank Fusion Outperforms Condorcet and Individual Rank Learning Methods.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400" dirty="0"/>
              <a:t>Robertson, S. &amp; Zaragoza, H. — The Probabilistic Relevance Framework: BM25 and Beyond.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6CD0F3-77A2-E482-9F59-462941CA9EF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Reference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EF328B9-B5B2-A4C8-C436-49616B481A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9E96C34-B06E-814D-72EC-EF1F6BBFAAF7}"/>
              </a:ext>
            </a:extLst>
          </p:cNvPr>
          <p:cNvSpPr txBox="1"/>
          <p:nvPr/>
        </p:nvSpPr>
        <p:spPr>
          <a:xfrm>
            <a:off x="2873829" y="57036"/>
            <a:ext cx="93181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 err="1">
                <a:solidFill>
                  <a:prstClr val="white"/>
                </a:solidFill>
                <a:cs typeface="Calibri" panose="020F0502020204030204" pitchFamily="34" charset="0"/>
              </a:rPr>
              <a:t>ServiceSense</a:t>
            </a:r>
            <a:r>
              <a:rPr lang="en-US" b="1">
                <a:solidFill>
                  <a:prstClr val="white"/>
                </a:solidFill>
                <a:cs typeface="Calibri" panose="020F0502020204030204" pitchFamily="34" charset="0"/>
              </a:rPr>
              <a:t> AI – Customer Complaint Classification &amp; Resolution Intelligence</a:t>
            </a:r>
          </a:p>
          <a:p>
            <a:pPr algn="r"/>
            <a:endParaRPr lang="en-US" sz="1800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1947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380</TotalTime>
  <Words>1383</Words>
  <Application>Microsoft Office PowerPoint</Application>
  <PresentationFormat>Widescreen</PresentationFormat>
  <Paragraphs>164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Calibri</vt:lpstr>
      <vt:lpstr>Calibri (Body)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Dhaslim N</cp:lastModifiedBy>
  <cp:revision>15</cp:revision>
  <dcterms:created xsi:type="dcterms:W3CDTF">2024-05-13T10:33:11Z</dcterms:created>
  <dcterms:modified xsi:type="dcterms:W3CDTF">2026-10-07T15:05:54Z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